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Georgia Pro Condensed Light" charset="1" panose="02040306050405020303"/>
      <p:regular r:id="rId16"/>
    </p:embeddedFont>
    <p:embeddedFont>
      <p:font typeface="TT Interphases" charset="1" panose="02000503020000020004"/>
      <p:regular r:id="rId17"/>
    </p:embeddedFont>
    <p:embeddedFont>
      <p:font typeface="TT Interphases Bold" charset="1" panose="02000803060000020004"/>
      <p:regular r:id="rId18"/>
    </p:embeddedFont>
    <p:embeddedFont>
      <p:font typeface="Georgia Pro Condensed Bold" charset="1" panose="020408060504050202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2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91600" y="1562100"/>
            <a:ext cx="8629650" cy="8724900"/>
            <a:chOff x="0" y="0"/>
            <a:chExt cx="2482140" cy="25095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82140" cy="2509537"/>
            </a:xfrm>
            <a:custGeom>
              <a:avLst/>
              <a:gdLst/>
              <a:ahLst/>
              <a:cxnLst/>
              <a:rect r="r" b="b" t="t" l="l"/>
              <a:pathLst>
                <a:path h="2509537" w="2482140">
                  <a:moveTo>
                    <a:pt x="0" y="0"/>
                  </a:moveTo>
                  <a:lnTo>
                    <a:pt x="2482140" y="0"/>
                  </a:lnTo>
                  <a:lnTo>
                    <a:pt x="2482140" y="2509537"/>
                  </a:lnTo>
                  <a:lnTo>
                    <a:pt x="0" y="2509537"/>
                  </a:lnTo>
                  <a:close/>
                </a:path>
              </a:pathLst>
            </a:custGeom>
            <a:blipFill>
              <a:blip r:embed="rId2"/>
              <a:stretch>
                <a:fillRect l="0" t="-143" r="0" b="-14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1619250"/>
            <a:ext cx="6886575" cy="3034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</a:pPr>
            <a:r>
              <a:rPr lang="en-US" sz="7200" strike="noStrike" u="none">
                <a:solidFill>
                  <a:srgbClr val="E0FBFC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個別指導塾 東京調布 AI活用学習プログラム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6750" y="9271451"/>
            <a:ext cx="5448300" cy="366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E0FBFC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Presented by: [Your Name], 市場分析担当</a:t>
            </a:r>
          </a:p>
        </p:txBody>
      </p:sp>
      <p:sp>
        <p:nvSpPr>
          <p:cNvPr name="AutoShape 6" id="6"/>
          <p:cNvSpPr/>
          <p:nvPr/>
        </p:nvSpPr>
        <p:spPr>
          <a:xfrm>
            <a:off x="666750" y="1263650"/>
            <a:ext cx="16954500" cy="0"/>
          </a:xfrm>
          <a:prstGeom prst="line">
            <a:avLst/>
          </a:prstGeom>
          <a:ln cap="flat" w="9525">
            <a:solidFill>
              <a:srgbClr val="E0FBF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666750" y="695325"/>
            <a:ext cx="169545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100"/>
              </a:lnSpc>
            </a:pPr>
            <a:r>
              <a:rPr lang="en-US" b="true" sz="2100">
                <a:solidFill>
                  <a:srgbClr val="98C1D9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競合調査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2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91600" y="666750"/>
            <a:ext cx="9296400" cy="9620250"/>
            <a:chOff x="0" y="0"/>
            <a:chExt cx="957635" cy="9909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7635" cy="990995"/>
            </a:xfrm>
            <a:custGeom>
              <a:avLst/>
              <a:gdLst/>
              <a:ahLst/>
              <a:cxnLst/>
              <a:rect r="r" b="b" t="t" l="l"/>
              <a:pathLst>
                <a:path h="990995" w="957635">
                  <a:moveTo>
                    <a:pt x="0" y="0"/>
                  </a:moveTo>
                  <a:lnTo>
                    <a:pt x="957635" y="0"/>
                  </a:lnTo>
                  <a:lnTo>
                    <a:pt x="957635" y="990995"/>
                  </a:lnTo>
                  <a:lnTo>
                    <a:pt x="0" y="990995"/>
                  </a:lnTo>
                  <a:close/>
                </a:path>
              </a:pathLst>
            </a:custGeom>
            <a:blipFill>
              <a:blip r:embed="rId2"/>
              <a:stretch>
                <a:fillRect l="0" t="-330" r="0" b="-33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723900"/>
            <a:ext cx="6886575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</a:pPr>
            <a:r>
              <a:rPr lang="en-US" sz="7200">
                <a:solidFill>
                  <a:srgbClr val="E0FBFC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市場背景の概要</a:t>
            </a:r>
          </a:p>
        </p:txBody>
      </p:sp>
      <p:sp>
        <p:nvSpPr>
          <p:cNvPr name="AutoShape 5" id="5"/>
          <p:cNvSpPr/>
          <p:nvPr/>
        </p:nvSpPr>
        <p:spPr>
          <a:xfrm flipV="true">
            <a:off x="666750" y="9625012"/>
            <a:ext cx="5753100" cy="0"/>
          </a:xfrm>
          <a:prstGeom prst="line">
            <a:avLst/>
          </a:prstGeom>
          <a:ln cap="flat" w="9525">
            <a:solidFill>
              <a:srgbClr val="E0FBF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666750" y="7244715"/>
            <a:ext cx="6886575" cy="148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</a:pPr>
            <a:r>
              <a:rPr lang="en-US" sz="2100">
                <a:solidFill>
                  <a:srgbClr val="E0FBFC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東京調布エリアの個別指導塾市場は、</a:t>
            </a:r>
            <a:r>
              <a:rPr lang="en-US" b="true" sz="2100">
                <a:solidFill>
                  <a:srgbClr val="E0FBFC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AI活用学習プログラム</a:t>
            </a:r>
            <a:r>
              <a:rPr lang="en-US" sz="2100">
                <a:solidFill>
                  <a:srgbClr val="E0FBFC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の導入により、急速に進化しています。月額約3万円で提供されるサービスは、競合が少ないため、高い参入機会を秘めています。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1B2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4238625"/>
            <a:ext cx="4314825" cy="1896427"/>
            <a:chOff x="0" y="0"/>
            <a:chExt cx="5753100" cy="2528569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561465"/>
              <a:ext cx="5753100" cy="9671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E0FB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東京個別指導学院はAI補助型で、料金は約33,000円です。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14045"/>
              <a:ext cx="5753100" cy="592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</a:pPr>
              <a:r>
                <a:rPr lang="en-US" sz="3200">
                  <a:solidFill>
                    <a:srgbClr val="98C1D9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競合1</a:t>
              </a:r>
            </a:p>
          </p:txBody>
        </p:sp>
        <p:sp>
          <p:nvSpPr>
            <p:cNvPr name="AutoShape 5" id="5"/>
            <p:cNvSpPr/>
            <p:nvPr/>
          </p:nvSpPr>
          <p:spPr>
            <a:xfrm flipV="true">
              <a:off x="0" y="12700"/>
              <a:ext cx="5753100" cy="0"/>
            </a:xfrm>
            <a:prstGeom prst="line">
              <a:avLst/>
            </a:prstGeom>
            <a:ln cap="flat" w="25400">
              <a:solidFill>
                <a:srgbClr val="E0FBFC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115050" y="4238625"/>
            <a:ext cx="4314825" cy="2267902"/>
            <a:chOff x="0" y="0"/>
            <a:chExt cx="5753100" cy="3023869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561465"/>
              <a:ext cx="5753100" cy="1462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E0FB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ベネッセグループの個別教室のトライは、全国最大規模で料金非公開です。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614045"/>
              <a:ext cx="5753100" cy="592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sz="3200" strike="noStrike" u="none">
                  <a:solidFill>
                    <a:srgbClr val="98C1D9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競合2</a:t>
              </a:r>
            </a:p>
          </p:txBody>
        </p:sp>
        <p:sp>
          <p:nvSpPr>
            <p:cNvPr name="AutoShape 9" id="9"/>
            <p:cNvSpPr/>
            <p:nvPr/>
          </p:nvSpPr>
          <p:spPr>
            <a:xfrm>
              <a:off x="0" y="12700"/>
              <a:ext cx="5753100" cy="0"/>
            </a:xfrm>
            <a:prstGeom prst="line">
              <a:avLst/>
            </a:prstGeom>
            <a:ln cap="flat" w="25400">
              <a:solidFill>
                <a:srgbClr val="E0FBFC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1868150" y="4238625"/>
            <a:ext cx="4619625" cy="1896427"/>
            <a:chOff x="0" y="0"/>
            <a:chExt cx="6159500" cy="2528569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1561465"/>
              <a:ext cx="6159500" cy="9671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E0FB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明光義塾は月額20,000から30,000円で3対1形式の指導を行います。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614045"/>
              <a:ext cx="6159500" cy="592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sz="3200" strike="noStrike" u="none">
                  <a:solidFill>
                    <a:srgbClr val="98C1D9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競合3</a:t>
              </a:r>
            </a:p>
          </p:txBody>
        </p:sp>
        <p:sp>
          <p:nvSpPr>
            <p:cNvPr name="AutoShape 13" id="13"/>
            <p:cNvSpPr/>
            <p:nvPr/>
          </p:nvSpPr>
          <p:spPr>
            <a:xfrm>
              <a:off x="0" y="12700"/>
              <a:ext cx="5753100" cy="0"/>
            </a:xfrm>
            <a:prstGeom prst="line">
              <a:avLst/>
            </a:prstGeom>
            <a:ln cap="flat" w="25400">
              <a:solidFill>
                <a:srgbClr val="E0FBFC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666750" y="723900"/>
            <a:ext cx="11201400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  <a:spcBef>
                <a:spcPct val="0"/>
              </a:spcBef>
            </a:pPr>
            <a:r>
              <a:rPr lang="en-US" sz="7200" strike="noStrike" u="none">
                <a:solidFill>
                  <a:srgbClr val="E0FBFC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直接競合サマリー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1B2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23900"/>
            <a:ext cx="15516225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  <a:spcBef>
                <a:spcPct val="0"/>
              </a:spcBef>
            </a:pPr>
            <a:r>
              <a:rPr lang="en-US" sz="7200" strike="noStrike" u="none">
                <a:solidFill>
                  <a:srgbClr val="E0FBFC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間接競合サマリー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2449830"/>
            <a:ext cx="4314825" cy="2258377"/>
            <a:chOff x="0" y="0"/>
            <a:chExt cx="5753100" cy="301116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548765"/>
              <a:ext cx="5753100" cy="1462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E0FB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AI最適化された個別指導で、月額料金は22000から34100円の範囲で提供。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607695"/>
              <a:ext cx="5753100" cy="592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</a:pPr>
              <a:r>
                <a:rPr lang="en-US" sz="3200">
                  <a:solidFill>
                    <a:srgbClr val="98C1D9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atama塾</a:t>
              </a:r>
            </a:p>
          </p:txBody>
        </p:sp>
        <p:sp>
          <p:nvSpPr>
            <p:cNvPr name="AutoShape 6" id="6"/>
            <p:cNvSpPr/>
            <p:nvPr/>
          </p:nvSpPr>
          <p:spPr>
            <a:xfrm flipV="true">
              <a:off x="0" y="12700"/>
              <a:ext cx="5753100" cy="0"/>
            </a:xfrm>
            <a:prstGeom prst="line">
              <a:avLst/>
            </a:prstGeom>
            <a:ln cap="flat" w="25400">
              <a:solidFill>
                <a:srgbClr val="E0FBFC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6115050" y="2454593"/>
            <a:ext cx="4314825" cy="2253615"/>
            <a:chOff x="0" y="0"/>
            <a:chExt cx="5753100" cy="3004819"/>
          </a:xfrm>
        </p:grpSpPr>
        <p:sp>
          <p:nvSpPr>
            <p:cNvPr name="AutoShape 8" id="8"/>
            <p:cNvSpPr/>
            <p:nvPr/>
          </p:nvSpPr>
          <p:spPr>
            <a:xfrm>
              <a:off x="0" y="12700"/>
              <a:ext cx="5753100" cy="0"/>
            </a:xfrm>
            <a:prstGeom prst="line">
              <a:avLst/>
            </a:prstGeom>
            <a:ln cap="flat" w="25400">
              <a:solidFill>
                <a:srgbClr val="E0FBFC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9" id="9"/>
            <p:cNvSpPr txBox="true"/>
            <p:nvPr/>
          </p:nvSpPr>
          <p:spPr>
            <a:xfrm rot="0">
              <a:off x="0" y="1542415"/>
              <a:ext cx="5753100" cy="1462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E0FB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超低価格の月額9900から27600円でAIタブレットを利用した独自の学習方法。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601345"/>
              <a:ext cx="5753100" cy="592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</a:pPr>
              <a:r>
                <a:rPr lang="en-US" sz="3200">
                  <a:solidFill>
                    <a:srgbClr val="98C1D9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自立学習塾RED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868150" y="2459355"/>
            <a:ext cx="4314825" cy="2258377"/>
            <a:chOff x="0" y="0"/>
            <a:chExt cx="5753100" cy="3011169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548765"/>
              <a:ext cx="5753100" cy="1462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E0FB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日本初の生成AI特化型塾で、料金は非公開ながら品質重視の指導を実施。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607695"/>
              <a:ext cx="5753100" cy="592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</a:pPr>
              <a:r>
                <a:rPr lang="en-US" sz="3200">
                  <a:solidFill>
                    <a:srgbClr val="98C1D9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エジソン塾</a:t>
              </a:r>
            </a:p>
          </p:txBody>
        </p:sp>
        <p:sp>
          <p:nvSpPr>
            <p:cNvPr name="AutoShape 14" id="14"/>
            <p:cNvSpPr/>
            <p:nvPr/>
          </p:nvSpPr>
          <p:spPr>
            <a:xfrm flipV="true">
              <a:off x="0" y="12700"/>
              <a:ext cx="5753100" cy="0"/>
            </a:xfrm>
            <a:prstGeom prst="line">
              <a:avLst/>
            </a:prstGeom>
            <a:ln cap="flat" w="25400">
              <a:solidFill>
                <a:srgbClr val="E0FBFC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66750" y="6393180"/>
            <a:ext cx="4314825" cy="2253615"/>
            <a:chOff x="0" y="0"/>
            <a:chExt cx="5753100" cy="3004819"/>
          </a:xfrm>
        </p:grpSpPr>
        <p:sp>
          <p:nvSpPr>
            <p:cNvPr name="AutoShape 16" id="16"/>
            <p:cNvSpPr/>
            <p:nvPr/>
          </p:nvSpPr>
          <p:spPr>
            <a:xfrm>
              <a:off x="0" y="12700"/>
              <a:ext cx="5753100" cy="0"/>
            </a:xfrm>
            <a:prstGeom prst="line">
              <a:avLst/>
            </a:prstGeom>
            <a:ln cap="flat" w="25400">
              <a:solidFill>
                <a:srgbClr val="E0FBFC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7" id="17"/>
            <p:cNvSpPr txBox="true"/>
            <p:nvPr/>
          </p:nvSpPr>
          <p:spPr>
            <a:xfrm rot="0">
              <a:off x="0" y="1542415"/>
              <a:ext cx="5753100" cy="1462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E0FB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AI情報に特化したプログラムを提供し、料金は非公開で個別指導を行っている。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601345"/>
              <a:ext cx="5753100" cy="592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</a:pPr>
              <a:r>
                <a:rPr lang="en-US" sz="3200">
                  <a:solidFill>
                    <a:srgbClr val="98C1D9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スターAI情報塾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115050" y="6393180"/>
            <a:ext cx="4314825" cy="1882140"/>
            <a:chOff x="0" y="0"/>
            <a:chExt cx="5753100" cy="2509519"/>
          </a:xfrm>
        </p:grpSpPr>
        <p:sp>
          <p:nvSpPr>
            <p:cNvPr name="AutoShape 20" id="20"/>
            <p:cNvSpPr/>
            <p:nvPr/>
          </p:nvSpPr>
          <p:spPr>
            <a:xfrm>
              <a:off x="0" y="12700"/>
              <a:ext cx="5753100" cy="0"/>
            </a:xfrm>
            <a:prstGeom prst="line">
              <a:avLst/>
            </a:prstGeom>
            <a:ln cap="flat" w="25400">
              <a:solidFill>
                <a:srgbClr val="E0FBFC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1" id="21"/>
            <p:cNvSpPr txBox="true"/>
            <p:nvPr/>
          </p:nvSpPr>
          <p:spPr>
            <a:xfrm rot="0">
              <a:off x="0" y="1542415"/>
              <a:ext cx="5753100" cy="9671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E0FB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大手AI最適化塾で、全国展開をしており、料金は高額の傾向がある。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601345"/>
              <a:ext cx="5753100" cy="592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</a:pPr>
              <a:r>
                <a:rPr lang="en-US" sz="3200">
                  <a:solidFill>
                    <a:srgbClr val="98C1D9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Axis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868150" y="6393180"/>
            <a:ext cx="4314825" cy="2253615"/>
            <a:chOff x="0" y="0"/>
            <a:chExt cx="5753100" cy="3004819"/>
          </a:xfrm>
        </p:grpSpPr>
        <p:sp>
          <p:nvSpPr>
            <p:cNvPr name="AutoShape 24" id="24"/>
            <p:cNvSpPr/>
            <p:nvPr/>
          </p:nvSpPr>
          <p:spPr>
            <a:xfrm>
              <a:off x="0" y="12700"/>
              <a:ext cx="5753100" cy="0"/>
            </a:xfrm>
            <a:prstGeom prst="line">
              <a:avLst/>
            </a:prstGeom>
            <a:ln cap="flat" w="25400">
              <a:solidFill>
                <a:srgbClr val="E0FBFC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5" id="25"/>
            <p:cNvSpPr txBox="true"/>
            <p:nvPr/>
          </p:nvSpPr>
          <p:spPr>
            <a:xfrm rot="0">
              <a:off x="0" y="1542415"/>
              <a:ext cx="5753100" cy="1462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E0FB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AIを駆使した高品質な指導を提供し、料金は高額だが顧客満足度が高い。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601345"/>
              <a:ext cx="5753100" cy="592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</a:pPr>
              <a:r>
                <a:rPr lang="en-US" sz="3200">
                  <a:solidFill>
                    <a:srgbClr val="98C1D9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Z会個別指導教室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1B2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23900"/>
            <a:ext cx="11201400" cy="2034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</a:pPr>
            <a:r>
              <a:rPr lang="en-US" sz="7200">
                <a:solidFill>
                  <a:srgbClr val="E0FBFC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競合マップ: 価格帯とAI活用度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115050" y="4238625"/>
            <a:ext cx="4314825" cy="2267902"/>
            <a:chOff x="0" y="0"/>
            <a:chExt cx="5753100" cy="302386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561465"/>
              <a:ext cx="5753100" cy="1462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E0FB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高AI活用で、低価格ゾーンは最有望な市場として顧客のニーズに応えられる。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614045"/>
              <a:ext cx="5753100" cy="592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98C1D9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高AI</a:t>
              </a:r>
            </a:p>
          </p:txBody>
        </p:sp>
        <p:sp>
          <p:nvSpPr>
            <p:cNvPr name="AutoShape 6" id="6"/>
            <p:cNvSpPr/>
            <p:nvPr/>
          </p:nvSpPr>
          <p:spPr>
            <a:xfrm>
              <a:off x="0" y="12700"/>
              <a:ext cx="5753100" cy="0"/>
            </a:xfrm>
            <a:prstGeom prst="line">
              <a:avLst/>
            </a:prstGeom>
            <a:ln cap="flat" w="25400">
              <a:solidFill>
                <a:srgbClr val="E0FBFC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1868150" y="4238625"/>
            <a:ext cx="4619625" cy="1896427"/>
            <a:chOff x="0" y="0"/>
            <a:chExt cx="6159500" cy="2528569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1561465"/>
              <a:ext cx="6159500" cy="9671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E0FB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低AI活用の競合は脆弱で、顧客の高い期待に応えることが難しい。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614045"/>
              <a:ext cx="6159500" cy="592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sz="3200" strike="noStrike" u="none">
                  <a:solidFill>
                    <a:srgbClr val="98C1D9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低AI</a:t>
              </a:r>
            </a:p>
          </p:txBody>
        </p:sp>
        <p:sp>
          <p:nvSpPr>
            <p:cNvPr name="AutoShape 10" id="10"/>
            <p:cNvSpPr/>
            <p:nvPr/>
          </p:nvSpPr>
          <p:spPr>
            <a:xfrm>
              <a:off x="0" y="12700"/>
              <a:ext cx="5753100" cy="0"/>
            </a:xfrm>
            <a:prstGeom prst="line">
              <a:avLst/>
            </a:prstGeom>
            <a:ln cap="flat" w="25400">
              <a:solidFill>
                <a:srgbClr val="E0FBFC"/>
              </a:solidFill>
              <a:prstDash val="solid"/>
              <a:headEnd type="none" len="sm" w="sm"/>
              <a:tailEnd type="none" len="sm" w="sm"/>
            </a:ln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1B2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23900"/>
            <a:ext cx="11201400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</a:pPr>
            <a:r>
              <a:rPr lang="en-US" sz="7200">
                <a:solidFill>
                  <a:srgbClr val="E0FBFC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価格帯比較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115050" y="4238625"/>
            <a:ext cx="4314825" cy="1896427"/>
            <a:chOff x="0" y="0"/>
            <a:chExt cx="5753100" cy="252856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561465"/>
              <a:ext cx="5753100" cy="9671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E0FB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競合の月額料金設定は多様で、自社ターゲットは3万円を目指す。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614045"/>
              <a:ext cx="5753100" cy="592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98C1D9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競合価格</a:t>
              </a:r>
            </a:p>
          </p:txBody>
        </p:sp>
        <p:sp>
          <p:nvSpPr>
            <p:cNvPr name="AutoShape 6" id="6"/>
            <p:cNvSpPr/>
            <p:nvPr/>
          </p:nvSpPr>
          <p:spPr>
            <a:xfrm>
              <a:off x="0" y="12700"/>
              <a:ext cx="5753100" cy="0"/>
            </a:xfrm>
            <a:prstGeom prst="line">
              <a:avLst/>
            </a:prstGeom>
            <a:ln cap="flat" w="25400">
              <a:solidFill>
                <a:srgbClr val="E0FBFC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1868150" y="4238625"/>
            <a:ext cx="4619625" cy="1896427"/>
            <a:chOff x="0" y="0"/>
            <a:chExt cx="6159500" cy="2528569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1561465"/>
              <a:ext cx="6159500" cy="9671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E0FB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低価格から高価格までの選択肢が存在し、差別化が成功の鍵となる。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614045"/>
              <a:ext cx="6159500" cy="592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sz="3200" strike="noStrike" u="none">
                  <a:solidFill>
                    <a:srgbClr val="98C1D9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価格戦略</a:t>
              </a:r>
            </a:p>
          </p:txBody>
        </p:sp>
        <p:sp>
          <p:nvSpPr>
            <p:cNvPr name="AutoShape 10" id="10"/>
            <p:cNvSpPr/>
            <p:nvPr/>
          </p:nvSpPr>
          <p:spPr>
            <a:xfrm>
              <a:off x="0" y="12700"/>
              <a:ext cx="5753100" cy="0"/>
            </a:xfrm>
            <a:prstGeom prst="line">
              <a:avLst/>
            </a:prstGeom>
            <a:ln cap="flat" w="25400">
              <a:solidFill>
                <a:srgbClr val="E0FBFC"/>
              </a:solidFill>
              <a:prstDash val="solid"/>
              <a:headEnd type="none" len="sm" w="sm"/>
              <a:tailEnd type="none" len="sm" w="sm"/>
            </a:ln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1B2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23900"/>
            <a:ext cx="15516225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  <a:spcBef>
                <a:spcPct val="0"/>
              </a:spcBef>
            </a:pPr>
            <a:r>
              <a:rPr lang="en-US" sz="7200" strike="noStrike" u="none">
                <a:solidFill>
                  <a:srgbClr val="E0FBFC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AI活用度の強み比較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2449830"/>
            <a:ext cx="4314825" cy="2258377"/>
            <a:chOff x="0" y="0"/>
            <a:chExt cx="5753100" cy="301116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548765"/>
              <a:ext cx="5753100" cy="1462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E0FB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AI個別最適化と即時フィードバックを提供し、地域密着型のコーチングが強みです。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607695"/>
              <a:ext cx="5753100" cy="592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</a:pPr>
              <a:r>
                <a:rPr lang="en-US" sz="3200">
                  <a:solidFill>
                    <a:srgbClr val="98C1D9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自社ターゲット</a:t>
              </a:r>
            </a:p>
          </p:txBody>
        </p:sp>
        <p:sp>
          <p:nvSpPr>
            <p:cNvPr name="AutoShape 6" id="6"/>
            <p:cNvSpPr/>
            <p:nvPr/>
          </p:nvSpPr>
          <p:spPr>
            <a:xfrm flipV="true">
              <a:off x="0" y="12700"/>
              <a:ext cx="5753100" cy="0"/>
            </a:xfrm>
            <a:prstGeom prst="line">
              <a:avLst/>
            </a:prstGeom>
            <a:ln cap="flat" w="25400">
              <a:solidFill>
                <a:srgbClr val="E0FBFC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6115050" y="2454593"/>
            <a:ext cx="4314825" cy="1882140"/>
            <a:chOff x="0" y="0"/>
            <a:chExt cx="5753100" cy="2509519"/>
          </a:xfrm>
        </p:grpSpPr>
        <p:sp>
          <p:nvSpPr>
            <p:cNvPr name="AutoShape 8" id="8"/>
            <p:cNvSpPr/>
            <p:nvPr/>
          </p:nvSpPr>
          <p:spPr>
            <a:xfrm>
              <a:off x="0" y="12700"/>
              <a:ext cx="5753100" cy="0"/>
            </a:xfrm>
            <a:prstGeom prst="line">
              <a:avLst/>
            </a:prstGeom>
            <a:ln cap="flat" w="25400">
              <a:solidFill>
                <a:srgbClr val="E0FBFC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9" id="9"/>
            <p:cNvSpPr txBox="true"/>
            <p:nvPr/>
          </p:nvSpPr>
          <p:spPr>
            <a:xfrm rot="0">
              <a:off x="0" y="1542415"/>
              <a:ext cx="5753100" cy="9671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E0FB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AI活用は最強ですが、地域密着性が欠けており対面指導が弱いです。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601345"/>
              <a:ext cx="5753100" cy="592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</a:pPr>
              <a:r>
                <a:rPr lang="en-US" sz="3200">
                  <a:solidFill>
                    <a:srgbClr val="98C1D9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atama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868150" y="2459355"/>
            <a:ext cx="4314825" cy="2258377"/>
            <a:chOff x="0" y="0"/>
            <a:chExt cx="5753100" cy="3011169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548765"/>
              <a:ext cx="5753100" cy="1462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E0FB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コストパフォーマンスが最強ですが、合格実績が弱くコーチングに課題があります。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607695"/>
              <a:ext cx="5753100" cy="592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</a:pPr>
              <a:r>
                <a:rPr lang="en-US" sz="3200">
                  <a:solidFill>
                    <a:srgbClr val="98C1D9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RED</a:t>
              </a:r>
            </a:p>
          </p:txBody>
        </p:sp>
        <p:sp>
          <p:nvSpPr>
            <p:cNvPr name="AutoShape 14" id="14"/>
            <p:cNvSpPr/>
            <p:nvPr/>
          </p:nvSpPr>
          <p:spPr>
            <a:xfrm flipV="true">
              <a:off x="0" y="12700"/>
              <a:ext cx="5753100" cy="0"/>
            </a:xfrm>
            <a:prstGeom prst="line">
              <a:avLst/>
            </a:prstGeom>
            <a:ln cap="flat" w="25400">
              <a:solidFill>
                <a:srgbClr val="E0FBFC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66750" y="6393180"/>
            <a:ext cx="4314825" cy="1882140"/>
            <a:chOff x="0" y="0"/>
            <a:chExt cx="5753100" cy="2509519"/>
          </a:xfrm>
        </p:grpSpPr>
        <p:sp>
          <p:nvSpPr>
            <p:cNvPr name="AutoShape 16" id="16"/>
            <p:cNvSpPr/>
            <p:nvPr/>
          </p:nvSpPr>
          <p:spPr>
            <a:xfrm>
              <a:off x="0" y="12700"/>
              <a:ext cx="5753100" cy="0"/>
            </a:xfrm>
            <a:prstGeom prst="line">
              <a:avLst/>
            </a:prstGeom>
            <a:ln cap="flat" w="25400">
              <a:solidFill>
                <a:srgbClr val="E0FBFC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7" id="17"/>
            <p:cNvSpPr txBox="true"/>
            <p:nvPr/>
          </p:nvSpPr>
          <p:spPr>
            <a:xfrm rot="0">
              <a:off x="0" y="1542415"/>
              <a:ext cx="5753100" cy="9671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E0FB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合格実績が高く対面指導に強みがありますが、AI活用が弱いです。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601345"/>
              <a:ext cx="5753100" cy="592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</a:pPr>
              <a:r>
                <a:rPr lang="en-US" sz="3200">
                  <a:solidFill>
                    <a:srgbClr val="98C1D9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TOMAS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115050" y="6393180"/>
            <a:ext cx="4314825" cy="2253615"/>
            <a:chOff x="0" y="0"/>
            <a:chExt cx="5753100" cy="3004819"/>
          </a:xfrm>
        </p:grpSpPr>
        <p:sp>
          <p:nvSpPr>
            <p:cNvPr name="AutoShape 20" id="20"/>
            <p:cNvSpPr/>
            <p:nvPr/>
          </p:nvSpPr>
          <p:spPr>
            <a:xfrm>
              <a:off x="0" y="12700"/>
              <a:ext cx="5753100" cy="0"/>
            </a:xfrm>
            <a:prstGeom prst="line">
              <a:avLst/>
            </a:prstGeom>
            <a:ln cap="flat" w="25400">
              <a:solidFill>
                <a:srgbClr val="E0FBFC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1" id="21"/>
            <p:cNvSpPr txBox="true"/>
            <p:nvPr/>
          </p:nvSpPr>
          <p:spPr>
            <a:xfrm rot="0">
              <a:off x="0" y="1542415"/>
              <a:ext cx="5753100" cy="1462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E0FB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バランス型で全方位に強いですが、尖った特徴がなく差別化が難しいです。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601345"/>
              <a:ext cx="5753100" cy="592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</a:pPr>
              <a:r>
                <a:rPr lang="en-US" sz="3200">
                  <a:solidFill>
                    <a:srgbClr val="98C1D9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明光義塾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2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23900"/>
            <a:ext cx="5753100" cy="2034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  <a:spcBef>
                <a:spcPct val="0"/>
              </a:spcBef>
            </a:pPr>
            <a:r>
              <a:rPr lang="en-US" sz="7200" strike="noStrike" u="none">
                <a:solidFill>
                  <a:srgbClr val="E0FBFC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戦略示唆: 4つのポイント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858125" y="657225"/>
            <a:ext cx="4314825" cy="1891665"/>
            <a:chOff x="0" y="0"/>
            <a:chExt cx="5753100" cy="2522219"/>
          </a:xfrm>
        </p:grpSpPr>
        <p:sp>
          <p:nvSpPr>
            <p:cNvPr name="AutoShape 4" id="4"/>
            <p:cNvSpPr/>
            <p:nvPr/>
          </p:nvSpPr>
          <p:spPr>
            <a:xfrm flipV="true">
              <a:off x="0" y="12700"/>
              <a:ext cx="5753100" cy="0"/>
            </a:xfrm>
            <a:prstGeom prst="line">
              <a:avLst/>
            </a:prstGeom>
            <a:ln cap="flat" w="25400">
              <a:solidFill>
                <a:srgbClr val="E0FBFC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" id="5"/>
            <p:cNvSpPr txBox="true"/>
            <p:nvPr/>
          </p:nvSpPr>
          <p:spPr>
            <a:xfrm rot="0">
              <a:off x="0" y="1555115"/>
              <a:ext cx="5753100" cy="9671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E0FB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調布における月3万円のAI主軸個別指導塾は未開拓な市場である。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614045"/>
              <a:ext cx="5753100" cy="592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</a:pPr>
              <a:r>
                <a:rPr lang="en-US" b="true" sz="3200">
                  <a:solidFill>
                    <a:srgbClr val="98C1D9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市場機会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306425" y="657225"/>
            <a:ext cx="4314825" cy="1891665"/>
            <a:chOff x="0" y="0"/>
            <a:chExt cx="5753100" cy="2522219"/>
          </a:xfrm>
        </p:grpSpPr>
        <p:sp>
          <p:nvSpPr>
            <p:cNvPr name="AutoShape 8" id="8"/>
            <p:cNvSpPr/>
            <p:nvPr/>
          </p:nvSpPr>
          <p:spPr>
            <a:xfrm>
              <a:off x="0" y="12700"/>
              <a:ext cx="5753100" cy="0"/>
            </a:xfrm>
            <a:prstGeom prst="line">
              <a:avLst/>
            </a:prstGeom>
            <a:ln cap="flat" w="25400">
              <a:solidFill>
                <a:srgbClr val="E0FBFC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9" id="9"/>
            <p:cNvSpPr txBox="true"/>
            <p:nvPr/>
          </p:nvSpPr>
          <p:spPr>
            <a:xfrm rot="0">
              <a:off x="0" y="1555115"/>
              <a:ext cx="5753100" cy="9671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E0FB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明光や東京個別はAIを導入済だが、それが主役ではない状況である。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614045"/>
              <a:ext cx="5753100" cy="592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</a:pPr>
              <a:r>
                <a:rPr lang="en-US" b="true" sz="3200">
                  <a:solidFill>
                    <a:srgbClr val="98C1D9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大手の状況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858125" y="5133975"/>
            <a:ext cx="4314825" cy="2263140"/>
            <a:chOff x="0" y="0"/>
            <a:chExt cx="5753100" cy="3017519"/>
          </a:xfrm>
        </p:grpSpPr>
        <p:sp>
          <p:nvSpPr>
            <p:cNvPr name="AutoShape 12" id="12"/>
            <p:cNvSpPr/>
            <p:nvPr/>
          </p:nvSpPr>
          <p:spPr>
            <a:xfrm flipV="true">
              <a:off x="0" y="12700"/>
              <a:ext cx="5753100" cy="0"/>
            </a:xfrm>
            <a:prstGeom prst="line">
              <a:avLst/>
            </a:prstGeom>
            <a:ln cap="flat" w="25400">
              <a:solidFill>
                <a:srgbClr val="E0FBFC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3" id="13"/>
            <p:cNvSpPr txBox="true"/>
            <p:nvPr/>
          </p:nvSpPr>
          <p:spPr>
            <a:xfrm rot="0">
              <a:off x="0" y="1555115"/>
              <a:ext cx="5753100" cy="1462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E0FB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TOMASの高価格帯の顧客と自社ターゲット顧客は明確に異なっている。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614045"/>
              <a:ext cx="5753100" cy="592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</a:pPr>
              <a:r>
                <a:rPr lang="en-US" b="true" sz="3200">
                  <a:solidFill>
                    <a:srgbClr val="98C1D9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顧客層の違い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306425" y="5133975"/>
            <a:ext cx="4314825" cy="1891665"/>
            <a:chOff x="0" y="0"/>
            <a:chExt cx="5753100" cy="2522219"/>
          </a:xfrm>
        </p:grpSpPr>
        <p:sp>
          <p:nvSpPr>
            <p:cNvPr name="AutoShape 16" id="16"/>
            <p:cNvSpPr/>
            <p:nvPr/>
          </p:nvSpPr>
          <p:spPr>
            <a:xfrm>
              <a:off x="0" y="12700"/>
              <a:ext cx="5753100" cy="0"/>
            </a:xfrm>
            <a:prstGeom prst="line">
              <a:avLst/>
            </a:prstGeom>
            <a:ln cap="flat" w="25400">
              <a:solidFill>
                <a:srgbClr val="E0FBFC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7" id="17"/>
            <p:cNvSpPr txBox="true"/>
            <p:nvPr/>
          </p:nvSpPr>
          <p:spPr>
            <a:xfrm rot="0">
              <a:off x="0" y="1555115"/>
              <a:ext cx="5753100" cy="9671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E0FB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対面指導に強みを持つことで、AI主体のオンライン競合に対抗できる。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614045"/>
              <a:ext cx="5753100" cy="592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</a:pPr>
              <a:r>
                <a:rPr lang="en-US" b="true" sz="3200">
                  <a:solidFill>
                    <a:srgbClr val="98C1D9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競争優位性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666750" y="6153150"/>
            <a:ext cx="2571750" cy="2571750"/>
          </a:xfrm>
          <a:custGeom>
            <a:avLst/>
            <a:gdLst/>
            <a:ahLst/>
            <a:cxnLst/>
            <a:rect r="r" b="b" t="t" l="l"/>
            <a:pathLst>
              <a:path h="2571750" w="2571750">
                <a:moveTo>
                  <a:pt x="0" y="0"/>
                </a:moveTo>
                <a:lnTo>
                  <a:pt x="2571750" y="0"/>
                </a:lnTo>
                <a:lnTo>
                  <a:pt x="2571750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2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91600" y="666750"/>
            <a:ext cx="9296400" cy="9620250"/>
            <a:chOff x="0" y="0"/>
            <a:chExt cx="957635" cy="9909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7635" cy="990995"/>
            </a:xfrm>
            <a:custGeom>
              <a:avLst/>
              <a:gdLst/>
              <a:ahLst/>
              <a:cxnLst/>
              <a:rect r="r" b="b" t="t" l="l"/>
              <a:pathLst>
                <a:path h="990995" w="957635">
                  <a:moveTo>
                    <a:pt x="0" y="0"/>
                  </a:moveTo>
                  <a:lnTo>
                    <a:pt x="957635" y="0"/>
                  </a:lnTo>
                  <a:lnTo>
                    <a:pt x="957635" y="990995"/>
                  </a:lnTo>
                  <a:lnTo>
                    <a:pt x="0" y="990995"/>
                  </a:lnTo>
                  <a:close/>
                </a:path>
              </a:pathLst>
            </a:custGeom>
            <a:blipFill>
              <a:blip r:embed="rId2"/>
              <a:stretch>
                <a:fillRect l="0" t="-330" r="0" b="-33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723900"/>
            <a:ext cx="6886575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</a:pPr>
            <a:r>
              <a:rPr lang="en-US" sz="7200">
                <a:solidFill>
                  <a:srgbClr val="E0FBFC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推奨アクション</a:t>
            </a:r>
          </a:p>
        </p:txBody>
      </p:sp>
      <p:sp>
        <p:nvSpPr>
          <p:cNvPr name="AutoShape 5" id="5"/>
          <p:cNvSpPr/>
          <p:nvPr/>
        </p:nvSpPr>
        <p:spPr>
          <a:xfrm flipV="true">
            <a:off x="666750" y="9625012"/>
            <a:ext cx="5753100" cy="0"/>
          </a:xfrm>
          <a:prstGeom prst="line">
            <a:avLst/>
          </a:prstGeom>
          <a:ln cap="flat" w="9525">
            <a:solidFill>
              <a:srgbClr val="E0FBF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666750" y="7244715"/>
            <a:ext cx="6886575" cy="148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</a:pPr>
            <a:r>
              <a:rPr lang="en-US" sz="2100">
                <a:solidFill>
                  <a:srgbClr val="E0FBFC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調布エリアには、</a:t>
            </a:r>
            <a:r>
              <a:rPr lang="en-US" b="true" sz="2100">
                <a:solidFill>
                  <a:srgbClr val="E0FBFC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月3万円のAI主軸</a:t>
            </a:r>
            <a:r>
              <a:rPr lang="en-US" sz="2100">
                <a:solidFill>
                  <a:srgbClr val="E0FBFC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の個別指導塾が存在しておらず、大手チェーンとの競争においても特化したサービスが求められます。次のステップとして、体験授業設計と集客計画を立てる必要があります。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2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66750" y="8277738"/>
            <a:ext cx="16954500" cy="0"/>
          </a:xfrm>
          <a:prstGeom prst="line">
            <a:avLst/>
          </a:prstGeom>
          <a:ln cap="flat" w="19050">
            <a:solidFill>
              <a:srgbClr val="E0FBF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6419850" y="0"/>
            <a:ext cx="11868150" cy="6034088"/>
            <a:chOff x="0" y="0"/>
            <a:chExt cx="1598656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98656" cy="812800"/>
            </a:xfrm>
            <a:custGeom>
              <a:avLst/>
              <a:gdLst/>
              <a:ahLst/>
              <a:cxnLst/>
              <a:rect r="r" b="b" t="t" l="l"/>
              <a:pathLst>
                <a:path h="812800" w="1598656">
                  <a:moveTo>
                    <a:pt x="0" y="0"/>
                  </a:moveTo>
                  <a:lnTo>
                    <a:pt x="1598656" y="0"/>
                  </a:lnTo>
                  <a:lnTo>
                    <a:pt x="1598656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91" t="0" r="-91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66750" y="8708464"/>
            <a:ext cx="5448300" cy="893445"/>
            <a:chOff x="0" y="0"/>
            <a:chExt cx="7264400" cy="119126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47625"/>
              <a:ext cx="72644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 u="none">
                  <a:solidFill>
                    <a:srgbClr val="E0FB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EMAIL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493184"/>
              <a:ext cx="7264400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sz="3200" u="none">
                  <a:solidFill>
                    <a:srgbClr val="98C1D9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hello@reallygreatsite.com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419850" y="8724900"/>
            <a:ext cx="4010025" cy="893445"/>
            <a:chOff x="0" y="0"/>
            <a:chExt cx="5346700" cy="119126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47625"/>
              <a:ext cx="53467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E0FBF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SOCIAL MEDIA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493184"/>
              <a:ext cx="5346700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98C1D9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@reallygreatsite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734675" y="8677275"/>
            <a:ext cx="401002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E0FBFC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PHONE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734675" y="9082405"/>
            <a:ext cx="401002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98C1D9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123-456-7890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6924675"/>
            <a:ext cx="16954500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32"/>
              </a:lnSpc>
            </a:pPr>
            <a:r>
              <a:rPr lang="en-US" sz="7109">
                <a:solidFill>
                  <a:srgbClr val="E0FBFC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Get in Touch for More Information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666750" y="666750"/>
            <a:ext cx="2686050" cy="2686050"/>
          </a:xfrm>
          <a:custGeom>
            <a:avLst/>
            <a:gdLst/>
            <a:ahLst/>
            <a:cxnLst/>
            <a:rect r="r" b="b" t="t" l="l"/>
            <a:pathLst>
              <a:path h="2686050" w="2686050">
                <a:moveTo>
                  <a:pt x="0" y="0"/>
                </a:moveTo>
                <a:lnTo>
                  <a:pt x="2686050" y="0"/>
                </a:lnTo>
                <a:lnTo>
                  <a:pt x="2686050" y="2686050"/>
                </a:lnTo>
                <a:lnTo>
                  <a:pt x="0" y="26860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プレゼンテーション - 個別指導塾 東京調布 AI活用学習プログラム</dc:description>
  <dc:identifier>DAHKNLRw69U</dc:identifier>
  <dcterms:modified xsi:type="dcterms:W3CDTF">2011-08-01T06:04:30Z</dcterms:modified>
  <cp:revision>1</cp:revision>
  <dc:title>プレゼンテーション - 個別指導塾 東京調布 AI活用学習プログラム</dc:title>
</cp:coreProperties>
</file>
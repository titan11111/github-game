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F4E79"/>
                </a:solidFill>
              </a:defRPr>
            </a:pPr>
            <a:r>
              <a:t>主要生命保険10社 競合調査レポート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110642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444444"/>
                </a:solidFill>
              </a:defRPr>
            </a:pPr>
            <a:r>
              <a:t>売上規模・営業特性・富裕層戦略・デジタル戦略（2026年5月）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737360"/>
            <a:ext cx="10789920" cy="3474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202020"/>
                </a:solidFill>
              </a:defRPr>
            </a:pPr>
            <a:r>
              <a:t>本資料の目的</a:t>
            </a:r>
          </a:p>
          <a:p>
            <a:pPr>
              <a:spcAft>
                <a:spcPts val="800"/>
              </a:spcAft>
              <a:defRPr sz="1800">
                <a:solidFill>
                  <a:srgbClr val="202020"/>
                </a:solidFill>
              </a:defRPr>
            </a:pPr>
            <a:r>
              <a:t>・主要10社の競争ポジションを横並びで把握</a:t>
            </a:r>
          </a:p>
          <a:p>
            <a:pPr>
              <a:spcAft>
                <a:spcPts val="800"/>
              </a:spcAft>
              <a:defRPr sz="1800">
                <a:solidFill>
                  <a:srgbClr val="202020"/>
                </a:solidFill>
              </a:defRPr>
            </a:pPr>
            <a:r>
              <a:t>・法人営業と富裕層戦略における勝ち筋を抽出</a:t>
            </a:r>
          </a:p>
          <a:p>
            <a:pPr>
              <a:spcAft>
                <a:spcPts val="800"/>
              </a:spcAft>
              <a:defRPr sz="1800">
                <a:solidFill>
                  <a:srgbClr val="202020"/>
                </a:solidFill>
              </a:defRPr>
            </a:pPr>
            <a:r>
              <a:t>・デジタル投資の方向性を比較して示唆を得る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F4E79"/>
                </a:solidFill>
              </a:defRPr>
            </a:pPr>
            <a:r>
              <a:t>エグゼクティブサマリー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188720"/>
            <a:ext cx="10972800" cy="4937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202020"/>
                </a:solidFill>
              </a:defRPr>
            </a:pPr>
            <a:r>
              <a:t>1位〜3位は日本生命・第一生命HD・明治安田生命で、市場規模と法人接点で先行しています。</a:t>
            </a:r>
          </a:p>
          <a:p>
            <a:pPr>
              <a:spcAft>
                <a:spcPts val="800"/>
              </a:spcAft>
              <a:defRPr sz="1800">
                <a:solidFill>
                  <a:srgbClr val="202020"/>
                </a:solidFill>
              </a:defRPr>
            </a:pPr>
            <a:r>
              <a:t>法人営業では「福利厚生」「退職金」「事業承継」が共通の主戦場です。</a:t>
            </a:r>
          </a:p>
          <a:p>
            <a:pPr>
              <a:spcAft>
                <a:spcPts val="800"/>
              </a:spcAft>
              <a:defRPr sz="1800">
                <a:solidFill>
                  <a:srgbClr val="202020"/>
                </a:solidFill>
              </a:defRPr>
            </a:pPr>
            <a:r>
              <a:t>富裕層戦略は、オーナー企業と医師層への深耕型アプローチが優勢です。</a:t>
            </a:r>
          </a:p>
          <a:p>
            <a:pPr>
              <a:spcAft>
                <a:spcPts val="800"/>
              </a:spcAft>
              <a:defRPr sz="1800">
                <a:solidFill>
                  <a:srgbClr val="202020"/>
                </a:solidFill>
              </a:defRPr>
            </a:pPr>
            <a:r>
              <a:t>デジタル戦略は営業DX・オンライン契約・データ連携の実装度で差が出ています。</a:t>
            </a:r>
          </a:p>
          <a:p>
            <a:pPr>
              <a:spcAft>
                <a:spcPts val="800"/>
              </a:spcAft>
              <a:defRPr sz="1800">
                <a:solidFill>
                  <a:srgbClr val="202020"/>
                </a:solidFill>
              </a:defRPr>
            </a:pPr>
            <a:r>
              <a:t>攻略余地は「地域中堅法人×健康経営×非対面ハイブリッド提案」にあります。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F4E79"/>
                </a:solidFill>
              </a:defRPr>
            </a:pPr>
            <a:r>
              <a:t>主要10社の一覧（要約）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11480" y="1143000"/>
          <a:ext cx="11338560" cy="5394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1520"/>
                <a:gridCol w="1920240"/>
                <a:gridCol w="1463040"/>
                <a:gridCol w="2743200"/>
                <a:gridCol w="4480560"/>
              </a:tblGrid>
              <a:tr h="490450"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順位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会社名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売上規模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主力販売チャネル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法人営業での特徴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</a:tr>
              <a:tr h="490450"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100"/>
                      </a:pPr>
                      <a:r>
                        <a:t>日本生命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100"/>
                      </a:pPr>
                      <a:r>
                        <a:t>約6〜7兆円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100"/>
                      </a:pPr>
                      <a:r>
                        <a:t>営業職員・法人営業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100"/>
                      </a:pPr>
                      <a:r>
                        <a:t>福利厚生・退職金市場に強い</a:t>
                      </a:r>
                    </a:p>
                  </a:txBody>
                  <a:tcPr/>
                </a:tc>
              </a:tr>
              <a:tr h="490450"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100"/>
                      </a:pPr>
                      <a:r>
                        <a:t>第一生命HD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100"/>
                      </a:pPr>
                      <a:r>
                        <a:t>約5〜6兆円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100"/>
                      </a:pPr>
                      <a:r>
                        <a:t>営業職員・銀行窓販・海外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100"/>
                      </a:pPr>
                      <a:r>
                        <a:t>大企業福利厚生・DC提案強い</a:t>
                      </a:r>
                    </a:p>
                  </a:txBody>
                  <a:tcPr/>
                </a:tc>
              </a:tr>
              <a:tr h="490450"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100"/>
                      </a:pPr>
                      <a:r>
                        <a:t>明治安田生命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100"/>
                      </a:pPr>
                      <a:r>
                        <a:t>約4兆円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100"/>
                      </a:pPr>
                      <a:r>
                        <a:t>営業職員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100"/>
                      </a:pPr>
                      <a:r>
                        <a:t>地場法人への浸透力</a:t>
                      </a:r>
                    </a:p>
                  </a:txBody>
                  <a:tcPr/>
                </a:tc>
              </a:tr>
              <a:tr h="490450"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100"/>
                      </a:pPr>
                      <a:r>
                        <a:t>かんぽ生命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100"/>
                      </a:pPr>
                      <a:r>
                        <a:t>約3兆円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100"/>
                      </a:pPr>
                      <a:r>
                        <a:t>郵便局チャネル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100"/>
                      </a:pPr>
                      <a:r>
                        <a:t>地方中小企業接点が多い</a:t>
                      </a:r>
                    </a:p>
                  </a:txBody>
                  <a:tcPr/>
                </a:tc>
              </a:tr>
              <a:tr h="490450"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100"/>
                      </a:pPr>
                      <a:r>
                        <a:t>住友生命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100"/>
                      </a:pPr>
                      <a:r>
                        <a:t>約3〜4兆円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100"/>
                      </a:pPr>
                      <a:r>
                        <a:t>営業職員・代理店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100"/>
                      </a:pPr>
                      <a:r>
                        <a:t>健康経営提案が強い</a:t>
                      </a:r>
                    </a:p>
                  </a:txBody>
                  <a:tcPr/>
                </a:tc>
              </a:tr>
              <a:tr h="490450"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100"/>
                      </a:pPr>
                      <a:r>
                        <a:t>T&amp;D HD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100"/>
                      </a:pPr>
                      <a:r>
                        <a:t>約2〜3兆円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100"/>
                      </a:pPr>
                      <a:r>
                        <a:t>代理店・法人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100"/>
                      </a:pPr>
                      <a:r>
                        <a:t>税務・退職金ニーズに強い</a:t>
                      </a:r>
                    </a:p>
                  </a:txBody>
                  <a:tcPr/>
                </a:tc>
              </a:tr>
              <a:tr h="490450"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100"/>
                      </a:pPr>
                      <a:r>
                        <a:t>メットライフ生命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100"/>
                      </a:pPr>
                      <a:r>
                        <a:t>約2兆円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100"/>
                      </a:pPr>
                      <a:r>
                        <a:t>代理店・銀行窓販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100"/>
                      </a:pPr>
                      <a:r>
                        <a:t>外貨建福利厚生提案</a:t>
                      </a:r>
                    </a:p>
                  </a:txBody>
                  <a:tcPr/>
                </a:tc>
              </a:tr>
              <a:tr h="490450"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100"/>
                      </a:pPr>
                      <a:r>
                        <a:t>ソニー生命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100"/>
                      </a:pPr>
                      <a:r>
                        <a:t>約1〜2兆円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100"/>
                      </a:pPr>
                      <a:r>
                        <a:t>ライフプランナー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100"/>
                      </a:pPr>
                      <a:r>
                        <a:t>経営者個人保障に強い</a:t>
                      </a:r>
                    </a:p>
                  </a:txBody>
                  <a:tcPr/>
                </a:tc>
              </a:tr>
              <a:tr h="490450"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100"/>
                      </a:pPr>
                      <a:r>
                        <a:t>アフラック生命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100"/>
                      </a:pPr>
                      <a:r>
                        <a:t>約1兆円超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100"/>
                      </a:pPr>
                      <a:r>
                        <a:t>代理店・銀行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100"/>
                      </a:pPr>
                      <a:r>
                        <a:t>福利厚生医療提案強い</a:t>
                      </a:r>
                    </a:p>
                  </a:txBody>
                  <a:tcPr/>
                </a:tc>
              </a:tr>
              <a:tr h="490460"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100"/>
                      </a:pPr>
                      <a:r>
                        <a:t>プルデンシャル生命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100"/>
                      </a:pPr>
                      <a:r>
                        <a:t>約1兆円規模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100"/>
                      </a:pPr>
                      <a:r>
                        <a:t>ライフプランナー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100"/>
                      </a:pPr>
                      <a:r>
                        <a:t>経営者保険に極めて強い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F4E79"/>
                </a:solidFill>
              </a:defRPr>
            </a:pPr>
            <a:r>
              <a:t>売上規模比較（画像）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110642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444444"/>
                </a:solidFill>
              </a:defRPr>
            </a:pPr>
            <a:r>
              <a:t>※ CSV記載のレンジを中央値で概算</a:t>
            </a:r>
          </a:p>
        </p:txBody>
      </p:sp>
      <p:pic>
        <p:nvPicPr>
          <p:cNvPr id="4" name="Picture 3" descr="revenue_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188720"/>
            <a:ext cx="10881360" cy="544068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F4E79"/>
                </a:solidFill>
              </a:defRPr>
            </a:pPr>
            <a:r>
              <a:t>主力販売チャネル構成（画像）</a:t>
            </a:r>
          </a:p>
        </p:txBody>
      </p:sp>
      <p:pic>
        <p:nvPicPr>
          <p:cNvPr id="3" name="Picture 2" descr="channel_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097280"/>
            <a:ext cx="5669280" cy="400184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0" y="1463040"/>
            <a:ext cx="530352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202020"/>
                </a:solidFill>
              </a:defRPr>
            </a:pPr>
            <a:r>
              <a:t>示唆</a:t>
            </a:r>
          </a:p>
          <a:p>
            <a:pPr>
              <a:spcAft>
                <a:spcPts val="800"/>
              </a:spcAft>
              <a:defRPr sz="1800">
                <a:solidFill>
                  <a:srgbClr val="202020"/>
                </a:solidFill>
              </a:defRPr>
            </a:pPr>
            <a:r>
              <a:t>・営業職員チャネルが依然として中核です。</a:t>
            </a:r>
          </a:p>
          <a:p>
            <a:pPr>
              <a:spcAft>
                <a:spcPts val="800"/>
              </a:spcAft>
              <a:defRPr sz="1800">
                <a:solidFill>
                  <a:srgbClr val="202020"/>
                </a:solidFill>
              </a:defRPr>
            </a:pPr>
            <a:r>
              <a:t>・代理店と銀行窓販の複線化が競争力を左右します。</a:t>
            </a:r>
          </a:p>
          <a:p>
            <a:pPr>
              <a:spcAft>
                <a:spcPts val="800"/>
              </a:spcAft>
              <a:defRPr sz="1800">
                <a:solidFill>
                  <a:srgbClr val="202020"/>
                </a:solidFill>
              </a:defRPr>
            </a:pPr>
            <a:r>
              <a:t>・ライフプランナー型は高単価市場で強みがあります。</a:t>
            </a:r>
          </a:p>
          <a:p>
            <a:pPr>
              <a:spcAft>
                <a:spcPts val="800"/>
              </a:spcAft>
              <a:defRPr sz="1800">
                <a:solidFill>
                  <a:srgbClr val="202020"/>
                </a:solidFill>
              </a:defRPr>
            </a:pPr>
            <a:r>
              <a:t>・地方接点は郵便局チャネルの優位性が継続します。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F4E79"/>
                </a:solidFill>
              </a:defRPr>
            </a:pPr>
            <a:r>
              <a:t>デジタル戦略比較（画像）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110642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444444"/>
                </a:solidFill>
              </a:defRPr>
            </a:pPr>
            <a:r>
              <a:t>記述内容を基にした参考スコア</a:t>
            </a:r>
          </a:p>
        </p:txBody>
      </p:sp>
      <p:pic>
        <p:nvPicPr>
          <p:cNvPr id="4" name="Picture 3" descr="digital_score_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188720"/>
            <a:ext cx="10881360" cy="544068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F4E79"/>
                </a:solidFill>
              </a:defRPr>
            </a:pPr>
            <a:r>
              <a:t>法人営業での対抗戦略（提案）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280160"/>
            <a:ext cx="10972800" cy="4937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202020"/>
                </a:solidFill>
              </a:defRPr>
            </a:pPr>
            <a:r>
              <a:t>優先アクション</a:t>
            </a:r>
          </a:p>
          <a:p>
            <a:pPr>
              <a:spcAft>
                <a:spcPts val="800"/>
              </a:spcAft>
              <a:defRPr sz="1800">
                <a:solidFill>
                  <a:srgbClr val="202020"/>
                </a:solidFill>
              </a:defRPr>
            </a:pPr>
            <a:r>
              <a:t>・中堅オーナー企業向けに『退職金+承継+保障』の一体提案を標準化する。</a:t>
            </a:r>
          </a:p>
          <a:p>
            <a:pPr>
              <a:spcAft>
                <a:spcPts val="800"/>
              </a:spcAft>
              <a:defRPr sz="1800">
                <a:solidFill>
                  <a:srgbClr val="202020"/>
                </a:solidFill>
              </a:defRPr>
            </a:pPr>
            <a:r>
              <a:t>・健康経営切り口を福利厚生提案と統合し、差別化する。</a:t>
            </a:r>
          </a:p>
          <a:p>
            <a:pPr>
              <a:spcAft>
                <a:spcPts val="800"/>
              </a:spcAft>
              <a:defRPr sz="1800">
                <a:solidFill>
                  <a:srgbClr val="202020"/>
                </a:solidFill>
              </a:defRPr>
            </a:pPr>
            <a:r>
              <a:t>・富裕層向けに医師・経営者セグメント別の提案テンプレートを設計する。</a:t>
            </a:r>
          </a:p>
          <a:p>
            <a:pPr>
              <a:spcAft>
                <a:spcPts val="800"/>
              </a:spcAft>
              <a:defRPr sz="1800">
                <a:solidFill>
                  <a:srgbClr val="202020"/>
                </a:solidFill>
              </a:defRPr>
            </a:pPr>
            <a:r>
              <a:t>・営業現場で使えるデジタル面談・設計書の運用を統一する。</a:t>
            </a:r>
          </a:p>
          <a:p>
            <a:pPr>
              <a:spcAft>
                <a:spcPts val="800"/>
              </a:spcAft>
              <a:defRPr sz="1800">
                <a:solidFill>
                  <a:srgbClr val="202020"/>
                </a:solidFill>
              </a:defRPr>
            </a:pPr>
            <a:r>
              <a:t>・顧客データ連携を前提に、非対面フォローの接点を増やす。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